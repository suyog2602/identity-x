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B66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3B66"/>
                </a:solidFill>
              </a:defRPr>
            </a:pPr>
            <a:r>
              <a:t>SMART INDIA</a:t>
            </a:r>
          </a:p>
          <a:p>
            <a:pPr>
              <a:defRPr sz="1300" b="1">
                <a:solidFill>
                  <a:srgbClr val="0D3B66"/>
                </a:solidFill>
              </a:defRPr>
            </a:pPr>
            <a:r>
              <a:t>HACKATHON</a:t>
            </a:r>
          </a:p>
          <a:p>
            <a:pPr>
              <a:defRPr sz="1200" b="1">
                <a:solidFill>
                  <a:srgbClr val="0D3B66"/>
                </a:solidFill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○ Problem Statement ID - 26132</a:t>
            </a:r>
          </a:p>
          <a:p>
            <a:pPr>
              <a:defRPr sz="600" b="0">
                <a:solidFill>
                  <a:srgbClr val="0F172A"/>
                </a:solidFill>
              </a:defRPr>
            </a:pP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○ Problem Statement Title- Strengthening market linkages</a:t>
            </a:r>
          </a:p>
          <a:p>
            <a:pPr>
              <a:defRPr sz="1800" b="0">
                <a:solidFill>
                  <a:srgbClr val="0F172A"/>
                </a:solidFill>
              </a:defRPr>
            </a:pPr>
            <a:r>
              <a:t>and price discovery for farmers</a:t>
            </a:r>
          </a:p>
          <a:p>
            <a:pPr>
              <a:defRPr sz="800" b="0">
                <a:solidFill>
                  <a:srgbClr val="0F172A"/>
                </a:solidFill>
              </a:defRPr>
            </a:pP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○ Theme- Agriculture, FoodTech &amp; Rural Development</a:t>
            </a:r>
          </a:p>
          <a:p>
            <a:pPr>
              <a:defRPr sz="800" b="0">
                <a:solidFill>
                  <a:srgbClr val="0F172A"/>
                </a:solidFill>
              </a:defRPr>
            </a:pP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○ PS Category- Software</a:t>
            </a:r>
          </a:p>
          <a:p>
            <a:pPr>
              <a:defRPr sz="800" b="0">
                <a:solidFill>
                  <a:srgbClr val="0F172A"/>
                </a:solidFill>
              </a:defRPr>
            </a:pP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○ Team ID - 167304</a:t>
            </a:r>
          </a:p>
          <a:p>
            <a:pPr>
              <a:defRPr sz="800" b="0">
                <a:solidFill>
                  <a:srgbClr val="0F172A"/>
                </a:solidFill>
              </a:defRPr>
            </a:pP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○ Team Name - HexaCore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645920"/>
            <a:ext cx="310896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br/>
            <a:br/>
            <a:r>
              <a:t>10101</a:t>
            </a:r>
            <a:br/>
            <a:r>
              <a:t>01010</a:t>
            </a:r>
            <a:br/>
            <a:r>
              <a:t>10101</a:t>
            </a:r>
            <a:br/>
            <a:r>
              <a:t>01010</a:t>
            </a:r>
            <a:br/>
            <a:r>
              <a:t>10101</a:t>
            </a:r>
            <a:br/>
            <a:r>
              <a:t>010</a:t>
            </a:r>
            <a:br/>
            <a:br/>
            <a:r>
              <a:t>SIH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HexaCore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09728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IDEA TITLE - IDENTITY-X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91440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D3B66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0D3B6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@SIH Idea submission                                                                                                                                         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IDENTITY-X — AI-POWERED MULTI-LAYER IDENTITY &amp; FORENSICS PLATFORM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 single, high-precision forensics platform that empowers border &amp; immigration officers to detect forged documents, impersonation, and identity discrepancies.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3200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320040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6596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IDENTITY-X is an enterprise AI decision-support platform that bridges the gap between raw travel documents and fraud detection by providing real-time multi-spectral forensics, MRZ validation, biometric liveness correlation, and risk scoring—all in one place.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✔ Real-time Multi-Layer Forensics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ELA, frequency noise analysis &amp; tamper heatmaps.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✔ Optical Zone &amp; MRZ Validation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ICAO Doc 9303 checksum &amp; text consistency verification.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✔ Cross-Document Correlation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Identity graph linking Passport, Visa, and National ID.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✔ Live Biometric Verification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1:1 face similarity with presentation attack (liveness) check.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✔ Responsible AI Decision-Support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Accumulated evidence index with officer-in-the-loop sign-off.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554480"/>
            <a:ext cx="14173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1600200"/>
            <a:ext cx="1325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6A34A"/>
                </a:solidFill>
              </a:defRPr>
            </a:pPr>
            <a:r>
              <a:t>[1] Officer Dashboard</a:t>
            </a:r>
          </a:p>
          <a:p>
            <a:br/>
            <a:pPr algn="ctr">
              <a:defRPr sz="750">
                <a:solidFill>
                  <a:srgbClr val="94A3B8"/>
                </a:solidFill>
              </a:defRPr>
            </a:pPr>
            <a:r>
              <a:t>┌─────────┐</a:t>
            </a:r>
            <a:br/>
            <a:r>
              <a:t>│ IDENTITY-X  │</a:t>
            </a:r>
            <a:br/>
            <a:r>
              <a:t>│ Terminal 3  │</a:t>
            </a:r>
            <a:br/>
            <a:r>
              <a:t>│ Gate 4B     │</a:t>
            </a:r>
            <a:br/>
            <a:r>
              <a:t>│─────────│</a:t>
            </a:r>
            <a:br/>
            <a:r>
              <a:t>│ CASE #20482 │</a:t>
            </a:r>
            <a:br/>
            <a:r>
              <a:t>│ Risk: 78/100│</a:t>
            </a:r>
            <a:br/>
            <a:r>
              <a:t>│ [TAMPER DET]│</a:t>
            </a:r>
            <a:br/>
            <a:r>
              <a:t>│ DOB: MISMATCH│</a:t>
            </a:r>
            <a:br/>
            <a:r>
              <a:t>│ Face: 63%   │</a:t>
            </a:r>
            <a:br/>
            <a:r>
              <a:t>│ Live: PASS  │</a:t>
            </a:r>
            <a:br/>
            <a:r>
              <a:t>│─────────│</a:t>
            </a:r>
            <a:br/>
            <a:r>
              <a:t>│ [INSPECT]   │</a:t>
            </a:r>
            <a:br/>
            <a:r>
              <a:t>└─────────┘</a:t>
            </a:r>
          </a:p>
          <a:p>
            <a:br/>
            <a:pPr algn="ctr">
              <a:defRPr sz="800">
                <a:solidFill>
                  <a:srgbClr val="FFFFFF"/>
                </a:solidFill>
              </a:defRPr>
            </a:pPr>
            <a:r>
              <a:t>Real-time triage queue, screening stats &amp; live airport throughput.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554480"/>
            <a:ext cx="14173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600200"/>
            <a:ext cx="1325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DC2626"/>
                </a:solidFill>
              </a:defRPr>
            </a:pPr>
            <a:r>
              <a:t>[2] Document Forensics</a:t>
            </a:r>
          </a:p>
          <a:p>
            <a:br/>
            <a:pPr algn="ctr">
              <a:defRPr sz="750">
                <a:solidFill>
                  <a:srgbClr val="94A3B8"/>
                </a:solidFill>
              </a:defRPr>
            </a:pPr>
            <a:r>
              <a:t>┌─────────┐</a:t>
            </a:r>
            <a:br/>
            <a:r>
              <a:t>│ IDENTITY-X  │</a:t>
            </a:r>
            <a:br/>
            <a:r>
              <a:t>│ Terminal 3  │</a:t>
            </a:r>
            <a:br/>
            <a:r>
              <a:t>│ Gate 4B     │</a:t>
            </a:r>
            <a:br/>
            <a:r>
              <a:t>│─────────│</a:t>
            </a:r>
            <a:br/>
            <a:r>
              <a:t>│ CASE #20482 │</a:t>
            </a:r>
            <a:br/>
            <a:r>
              <a:t>│ Risk: 78/100│</a:t>
            </a:r>
            <a:br/>
            <a:r>
              <a:t>│ [TAMPER DET]│</a:t>
            </a:r>
            <a:br/>
            <a:r>
              <a:t>│ DOB: MISMATCH│</a:t>
            </a:r>
            <a:br/>
            <a:r>
              <a:t>│ Face: 63%   │</a:t>
            </a:r>
            <a:br/>
            <a:r>
              <a:t>│ Live: PASS  │</a:t>
            </a:r>
            <a:br/>
            <a:r>
              <a:t>│─────────│</a:t>
            </a:r>
            <a:br/>
            <a:r>
              <a:t>│ [INSPECT]   │</a:t>
            </a:r>
            <a:br/>
            <a:r>
              <a:t>└─────────┘</a:t>
            </a:r>
          </a:p>
          <a:p>
            <a:br/>
            <a:pPr algn="ctr">
              <a:defRPr sz="800">
                <a:solidFill>
                  <a:srgbClr val="FFFFFF"/>
                </a:solidFill>
              </a:defRPr>
            </a:pPr>
            <a:r>
              <a:t>Interactive AI heatmap highlighting DOB pixel-level tampering (91%).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554480"/>
            <a:ext cx="14173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600200"/>
            <a:ext cx="1325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D3B66"/>
                </a:solidFill>
              </a:defRPr>
            </a:pPr>
            <a:r>
              <a:t>[3] Biometric Matching</a:t>
            </a:r>
          </a:p>
          <a:p>
            <a:br/>
            <a:pPr algn="ctr">
              <a:defRPr sz="750">
                <a:solidFill>
                  <a:srgbClr val="94A3B8"/>
                </a:solidFill>
              </a:defRPr>
            </a:pPr>
            <a:r>
              <a:t>┌─────────┐</a:t>
            </a:r>
            <a:br/>
            <a:r>
              <a:t>│ IDENTITY-X  │</a:t>
            </a:r>
            <a:br/>
            <a:r>
              <a:t>│ Terminal 3  │</a:t>
            </a:r>
            <a:br/>
            <a:r>
              <a:t>│ Gate 4B     │</a:t>
            </a:r>
            <a:br/>
            <a:r>
              <a:t>│─────────│</a:t>
            </a:r>
            <a:br/>
            <a:r>
              <a:t>│ CASE #20482 │</a:t>
            </a:r>
            <a:br/>
            <a:r>
              <a:t>│ Risk: 78/100│</a:t>
            </a:r>
            <a:br/>
            <a:r>
              <a:t>│ [TAMPER DET]│</a:t>
            </a:r>
            <a:br/>
            <a:r>
              <a:t>│ DOB: MISMATCH│</a:t>
            </a:r>
            <a:br/>
            <a:r>
              <a:t>│ Face: 63%   │</a:t>
            </a:r>
            <a:br/>
            <a:r>
              <a:t>│ Live: PASS  │</a:t>
            </a:r>
            <a:br/>
            <a:r>
              <a:t>│─────────│</a:t>
            </a:r>
            <a:br/>
            <a:r>
              <a:t>│ [INSPECT]   │</a:t>
            </a:r>
            <a:br/>
            <a:r>
              <a:t>└─────────┘</a:t>
            </a:r>
          </a:p>
          <a:p>
            <a:br/>
            <a:pPr algn="ctr">
              <a:defRPr sz="800">
                <a:solidFill>
                  <a:srgbClr val="FFFFFF"/>
                </a:solidFill>
              </a:defRPr>
            </a:pPr>
            <a:r>
              <a:t>Live face probe vs passport photo, 92% quality &amp; liveness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554480"/>
            <a:ext cx="3200400" cy="2194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6002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HOW IT ADDRESSES THE PROBLEM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1. Detects Micro-Tampering: Uncovers localized pixel manipulation.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2. Eliminates Identity Conflicts: Flags cross-document discrepancies.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3. Prevents Spoofing: 3D biometric liveness foils presentation attacks.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4. Accelerates Clearance: Slashes verification from 8 mins to &lt;3s.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5. Empowers Officers: Objective evidence replaces black-box 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931920"/>
            <a:ext cx="3200400" cy="2377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3977639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6CC"/>
                </a:solidFill>
              </a:defRPr>
            </a:pPr>
            <a:r>
              <a:t>INNOVATION &amp; UNIQUENESS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Multi-Spectral Analysis: ELA, noise &amp; frequency transforms without $50k lab hardware.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Cross-Document Graph: Correlates attributes across Passport, Visa &amp; National ID.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Additive Evidence Scoring: Transparent contribution points instead of black-box %.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Edge &amp; Offline Capable: Runs on standard gate terminals without cloud dependency.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Human-in-the-Loop Ethics: Strict decision-support ensuring officer retains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HexaCore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09728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91440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D3B66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0D3B6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@SIH Idea submission                                                                                                                                         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D3B66"/>
                </a:solidFill>
              </a:defRPr>
            </a:pPr>
            <a:r>
              <a:t>WHY REACT + MODULAR AI?? | IDENTITY-X leverages ultra-fast React 19 UI and modular Python AI services for sub-3-second checkpoint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108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108960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 | TECHNOLOGIES TO BE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3B66"/>
                </a:solidFill>
              </a:defRPr>
            </a:pPr>
            <a:r>
              <a:t>■ Frontend Application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React.js, Vite, Tailwind CSS, React Router, Recharts, Lucide Icons</a:t>
            </a:r>
          </a:p>
          <a:p>
            <a:pPr>
              <a:defRPr sz="950" b="1">
                <a:solidFill>
                  <a:srgbClr val="0D3B66"/>
                </a:solidFill>
              </a:defRPr>
            </a:pPr>
            <a:r>
              <a:t>■ AI Forensics &amp; Vision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PyTorch, OpenCV, Error Level Analysis (ELA), PaddleOCR, InsightFace</a:t>
            </a:r>
          </a:p>
          <a:p>
            <a:pPr>
              <a:defRPr sz="950" b="1">
                <a:solidFill>
                  <a:srgbClr val="0D3B66"/>
                </a:solidFill>
              </a:defRPr>
            </a:pPr>
            <a:r>
              <a:t>■ Backend &amp; Middleware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Python FastAPI / Node.js Express, PostgreSQL, Redis, Docker</a:t>
            </a:r>
          </a:p>
          <a:p>
            <a:pPr>
              <a:defRPr sz="950" b="1">
                <a:solidFill>
                  <a:srgbClr val="0D3B66"/>
                </a:solidFill>
              </a:defRPr>
            </a:pPr>
            <a:r>
              <a:t>■ Security &amp; Standards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ICAO Doc 9303, FIPS 140-2, JWT Auth, SHA-256 Audit Hashing</a:t>
            </a:r>
          </a:p>
          <a:p>
            <a:pPr>
              <a:defRPr sz="950" b="1">
                <a:solidFill>
                  <a:srgbClr val="0D3B66"/>
                </a:solidFill>
              </a:defRPr>
            </a:pPr>
            <a:r>
              <a:t>■ Repository &amp; Tooling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GitHub, VS Code, Antigravity, Postman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23036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66CC"/>
                </a:solidFill>
              </a:defRPr>
            </a:pPr>
            <a:r>
              <a:t>🔗 GitHub: github.com/HexaCore/Identity-X-SIH26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280160"/>
            <a:ext cx="8138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1280160"/>
            <a:ext cx="8138160" cy="32004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 | SYSTEM ARCHITECTURE (INTEGRATED | HIGH-THROUGHPUT | DECISION-SUPPORT)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691640"/>
            <a:ext cx="777240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Layer 1: Client &amp; Officer Console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React 19 Officer Web Portal • Gate Terminal UI • Mobile Secondary Inspection Tablet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377440"/>
            <a:ext cx="777240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Layer 2: API Gateway &amp; Security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FastAPI / Node.js Router • JWT Officer Authentication • Terminal Gate Session Token • Rate Limiter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063240"/>
            <a:ext cx="7772400" cy="5943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C2626"/>
                </a:solidFill>
              </a:defRPr>
            </a:pPr>
            <a:r>
              <a:t>Layer 3: AI Multi-Layer Forensic Pipeline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OCR Extractor (ICAO 9303) | MRZ Checksum Validator | Tamper ELA Heatmap | Biometric Face &amp; Liveness | Identity 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749039"/>
            <a:ext cx="7772400" cy="594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A34A"/>
                </a:solidFill>
              </a:defRPr>
            </a:pPr>
            <a:r>
              <a:t>Layer 4: Data &amp; Immutable Audit Ledger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PostgreSQL (Cases &amp; Dossiers) | S3 Object Vault (Scans &amp; Probes) | Cryptographic Audit Chain (SHA-256)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434840"/>
            <a:ext cx="7772400" cy="5943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Stakeholders Connected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Border Security Officers • Secondary Inspection Units • Immigration Bureau • Judicial Authorities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440680"/>
            <a:ext cx="11430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4982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3B66"/>
                </a:solidFill>
              </a:defRPr>
            </a:pPr>
            <a:r>
              <a:t>3 | USER WORKFLOW (8 STEP REAL-TIME INSPECTION PIPELINE)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1. Officer Auth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Gate 4B 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088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2. Ingest Doc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Passport / Visa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3. Capture Face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Live 3D probe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4. Neural OCR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Zone parsing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6752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5. MRZ Audit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ICAO checksums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6. Tamper ELA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Heatmap scan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7. ID Graph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Cross-check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86416" y="5715000"/>
            <a:ext cx="13258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8. Legal Decision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Sign-off &amp;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HexaCore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09728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91440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D3B66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0D3B6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@SIH Idea submission                                                                                                                                         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“A practical, sovereign solution today, with a clear path to nationwide scale.”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486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⚙ FEASIBILITY — CAN IT REALLY WORK IN REAL LIFE?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512064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A34A"/>
                </a:solidFill>
              </a:defRPr>
            </a:pPr>
            <a:r>
              <a:t>✔ Technology Ready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Built using standard web browsers, standard optical scanners, and lightweight neural models. No $50k proprietary optical hardware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12064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A34A"/>
                </a:solidFill>
              </a:defRPr>
            </a:pPr>
            <a:r>
              <a:t>✔ Data Feasible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Complies with publicly documented ICAO Doc 9303 standards, verified checksum algorithms, and national identity layout specifications.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12064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A34A"/>
                </a:solidFill>
              </a:defRPr>
            </a:pPr>
            <a:r>
              <a:t>✔ Officer Feasible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Intuitive high-contrast UI tailored for high-stress border environments. Requires zero technical forensics background to interpret.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12064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A34A"/>
                </a:solidFill>
              </a:defRPr>
            </a:pPr>
            <a:r>
              <a:t>✔ Ecosystem Feasible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Integrates natively into existing airport e-Gates, immigration database APIs, and central immigration watchlists via secure REST endpoints.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3B66"/>
                </a:solidFill>
              </a:defRPr>
            </a:pPr>
            <a:r>
              <a:t>Not a theoretical concept — a practical and deployable solution built on existing border infrastructure and validated mathematical standards.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80160"/>
            <a:ext cx="5669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80160"/>
            <a:ext cx="566928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📈 VIABILITY — CAN IT SUSTAIN AND CREATE LONG-TERM IMPACT?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737360"/>
            <a:ext cx="5303520" cy="7498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★ Economically Viable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Software-driven deployment slashes border inspection costs by 80% compared to imported proprietary hardware. Near-zero incremental cost per traveler.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60320"/>
            <a:ext cx="53035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6CC"/>
                </a:solidFill>
              </a:defRPr>
            </a:pPr>
            <a:r>
              <a:t>★ Nationally Scalable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Modular microservice architecture effortlessly scales from a single border outpost to all 100+ Indian immigration checkpoints and land borders.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83280"/>
            <a:ext cx="5303520" cy="7498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★ Sustainably Evolving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Continuous model fine-tuning counters evolving synthetic media, AI deepfakes, and sophisticated organized crime forgery techniques.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3B66"/>
                </a:solidFill>
              </a:defRPr>
            </a:pPr>
            <a:r>
              <a:t>Ecosystem Integration: Travelers ➔ Ingestion ➔ AI Forensics ➔ Officer Review ➔ Sovereign Border Integrity.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303520"/>
            <a:ext cx="11430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3B66"/>
                </a:solidFill>
              </a:defRPr>
            </a:pPr>
            <a:r>
              <a:t>REAL-WORLD APPROACH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IDENTITY-X addresses real-world adoption challenges through sub-3-second latency, offline-capable verification models, and transparent evidence logs, helping officers make informed clearance decisions and preventing fraudulent entry.</a:t>
            </a:r>
          </a:p>
          <a:p>
            <a:pPr>
              <a:defRPr sz="950" b="1">
                <a:solidFill>
                  <a:srgbClr val="16A34A"/>
                </a:solidFill>
              </a:defRPr>
            </a:pPr>
            <a:r>
              <a:t>“IDENTITY-X is not dependent on creating a new Ecosystem — it connects, secures, and digitizes the one that already exists.”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HexaCore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09728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91440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D3B66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0D3B6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@SIH Idea submission                                                                                                                                         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“Strengthening National Security, Accelerating Travel, Preserving Border Integrity”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2788920" cy="2468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2606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Security Benefits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Halts illegal crossings &amp; impersonation.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Stops syndicate passport &amp; visa forgery.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Creates tamper-proof cryptographic audit.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Closes cross-document identity loopholes.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280160"/>
            <a:ext cx="278892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325880"/>
            <a:ext cx="2606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Economic Benefits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Prevents multi-crore fraud &amp; identity crimes.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Saves millions of inspection officer hours.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Slashes capital cost vs imported hardware.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Expedites legitimate business &amp; trade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80160"/>
            <a:ext cx="2788920" cy="24688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325880"/>
            <a:ext cx="2606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Operational Benefits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Delivers full forensic check in &lt;3 seconds.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Eliminates human fatigue in peak hours.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Standardizes scrutiny across all 100+ ports.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Provides defensible evidence for courts.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280160"/>
            <a:ext cx="27889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1325880"/>
            <a:ext cx="2606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3B66"/>
                </a:solidFill>
              </a:defRPr>
            </a:pPr>
            <a:r>
              <a:t>Institutional Benefits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Modernizes borders under Digital India.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Interoperates with Interpol &amp; ICAO PKD.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Elevates Indian airport global rankings.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Scalable to e-Visas, seaports, &amp; land gates.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86200"/>
            <a:ext cx="114300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114300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IMPACT ON KEY STAKEHOLDERS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2697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3B66"/>
                </a:solidFill>
              </a:defRPr>
            </a:pPr>
            <a:r>
              <a:t>IMMIGRATION OFFICERS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Objective evidence trails.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Reduced mental fatigue.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Confident, defensible decisions.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Accelerated passenger clearance.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251960"/>
            <a:ext cx="2697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3B66"/>
                </a:solidFill>
              </a:defRPr>
            </a:pPr>
            <a:r>
              <a:t>TRAVELERS &amp; CITIZENS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Rapid, frictionless transit.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Protected from identity theft.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Transparent screening criteria.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No wrongful harassment.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4251960"/>
            <a:ext cx="2697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3B66"/>
                </a:solidFill>
              </a:defRPr>
            </a:pPr>
            <a:r>
              <a:t>GOVERNMENT &amp; POLICE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Real-time border intelligence.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Centralized fraud pattern tracking.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Strengthened homeland security.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Supports digital governance.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4251960"/>
            <a:ext cx="2697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3B66"/>
                </a:solidFill>
              </a:defRPr>
            </a:pPr>
            <a:r>
              <a:t>SOCIETY &amp; NATION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Protected national frontiers.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Deterrence of transnational crime.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Preserved document integrity.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Safe, lawful international travel.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HexaCore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09728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91440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D3B66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0D3B6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@SIH Idea submission                                                                                                                                         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“Understanding the forensic gap. Building a sovereign security solution.”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108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108960" cy="32004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 REFERENCES &amp;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D3B66"/>
                </a:solidFill>
              </a:defRPr>
            </a:pPr>
            <a:r>
              <a:t>■ ICAO Doc 9303 Standard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Machine Readable Travel Documents (MRTD) Specs, TD3 size rules &amp; Checksum Algorithms.</a:t>
            </a:r>
          </a:p>
          <a:p>
            <a:pPr>
              <a:defRPr sz="900" b="1">
                <a:solidFill>
                  <a:srgbClr val="0D3B66"/>
                </a:solidFill>
              </a:defRPr>
            </a:pPr>
            <a:r>
              <a:t>■ Error Level Analysis (ELA)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Krawetz, N. 'A Picture's Worth... Digital Image Analysis and Resaving Forensics.'</a:t>
            </a:r>
          </a:p>
          <a:p>
            <a:pPr>
              <a:defRPr sz="900" b="1">
                <a:solidFill>
                  <a:srgbClr val="0D3B66"/>
                </a:solidFill>
              </a:defRPr>
            </a:pPr>
            <a:r>
              <a:t>■ NIST FRVT Guidelines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National Institute of Standards &amp; Technology: Face Recognition &amp; Presentation Attack (ISO 30107).</a:t>
            </a:r>
          </a:p>
          <a:p>
            <a:pPr>
              <a:defRPr sz="900" b="1">
                <a:solidFill>
                  <a:srgbClr val="0D3B66"/>
                </a:solidFill>
              </a:defRPr>
            </a:pPr>
            <a:r>
              <a:t>■ Ministry of Home Affairs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Bureau of Immigration (BOI) guidelines, Foreigners Act &amp; airport border control frameworks.</a:t>
            </a:r>
          </a:p>
          <a:p>
            <a:pPr>
              <a:defRPr sz="900" b="1">
                <a:solidFill>
                  <a:srgbClr val="0D3B66"/>
                </a:solidFill>
              </a:defRPr>
            </a:pPr>
            <a:r>
              <a:t>■ Interpol SLTD Database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Stolen and Lost Travel Documents protocols &amp; cross-border verification architectures.</a:t>
            </a:r>
          </a:p>
          <a:p>
            <a:pPr>
              <a:defRPr sz="900" b="1">
                <a:solidFill>
                  <a:srgbClr val="0D3B66"/>
                </a:solidFill>
              </a:defRPr>
            </a:pPr>
            <a:r>
              <a:t>■ Academic Research Papers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IEEE / ACM / Springer journals on camera PRNU noise, deepfakes &amp; OCR font consistency.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280160"/>
            <a:ext cx="62179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280160"/>
            <a:ext cx="621792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FINDINGS FROM OUR PRACTICAL FORENSIC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64592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6CC"/>
                </a:solidFill>
              </a:defRPr>
            </a:pPr>
            <a:r>
              <a:t>What is forged? ➔ Does MRZ match? ➔ Is photo tampered? ➔ Does face match? ➔ Is ID consistent?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148840"/>
            <a:ext cx="5669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🛡 IDENTITY-X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“Bridging the forensic gaps. Connecting multi-layer evidence.”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Turning available document and biometric data into an immediate, defensible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794760"/>
            <a:ext cx="62179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3794760"/>
            <a:ext cx="6217920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RESEARCH INSIGHTS ➔ SYSTEM DESIGN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206240"/>
            <a:ext cx="19202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3B66"/>
                </a:solidFill>
              </a:defRPr>
            </a:pPr>
            <a:r>
              <a:t>Dual MRZ-Visual Validation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Cross-verifies visual text against machine hashes.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206240"/>
            <a:ext cx="19202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3B66"/>
                </a:solidFill>
              </a:defRPr>
            </a:pPr>
            <a:r>
              <a:t>Localized ELA Tamper Heatmap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Isolates modified regions like altered birth 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206240"/>
            <a:ext cx="19202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3B66"/>
                </a:solidFill>
              </a:defRPr>
            </a:pPr>
            <a:r>
              <a:t>Cross-Document Correlation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Identifies conflicting birth dates across civil IDs.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5303520"/>
            <a:ext cx="19202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3B66"/>
                </a:solidFill>
              </a:defRPr>
            </a:pPr>
            <a:r>
              <a:t>3D Face Liveness Detection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Guards against phone replays and photo cutouts.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5303520"/>
            <a:ext cx="19202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3B66"/>
                </a:solidFill>
              </a:defRPr>
            </a:pPr>
            <a:r>
              <a:t>Explainable Point Scoring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Transparent evidence contributions (+18, +24, etc).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5303520"/>
            <a:ext cx="19202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3B66"/>
                </a:solidFill>
              </a:defRPr>
            </a:pPr>
            <a:r>
              <a:t>Sub-3-Second Gate Latency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Engineered for high-volume airport checkpoints.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280160"/>
            <a:ext cx="1737360" cy="5120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1280160"/>
            <a:ext cx="1737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STANDARDS REVIEWED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1691640"/>
            <a:ext cx="1645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172A"/>
                </a:solidFill>
              </a:defRPr>
            </a:pPr>
            <a:r>
              <a:t>■ ICAO DOC 9303</a:t>
            </a:r>
            <a:br/>
            <a:r>
              <a:t>Official Global Passport Standard</a:t>
            </a:r>
            <a:br/>
          </a:p>
          <a:p>
            <a:pPr>
              <a:defRPr sz="800">
                <a:solidFill>
                  <a:srgbClr val="0F172A"/>
                </a:solidFill>
              </a:defRPr>
            </a:pPr>
            <a:r>
              <a:t>■ BUREAU OF IMMIGRATION</a:t>
            </a:r>
            <a:br/>
            <a:r>
              <a:t>Government of India</a:t>
            </a:r>
            <a:br/>
          </a:p>
          <a:p>
            <a:pPr>
              <a:defRPr sz="800">
                <a:solidFill>
                  <a:srgbClr val="0F172A"/>
                </a:solidFill>
              </a:defRPr>
            </a:pPr>
            <a:r>
              <a:t>■ INTERPOL SLTD</a:t>
            </a:r>
            <a:br/>
            <a:r>
              <a:t>Stolen &amp; Lost Travel Documents</a:t>
            </a:r>
            <a:br/>
          </a:p>
          <a:p>
            <a:pPr>
              <a:defRPr sz="800">
                <a:solidFill>
                  <a:srgbClr val="0F172A"/>
                </a:solidFill>
              </a:defRPr>
            </a:pPr>
            <a:r>
              <a:t>■ ISO/IEC 19794</a:t>
            </a:r>
            <a:br/>
            <a:r>
              <a:t>Biometric Data Interchange</a:t>
            </a:r>
            <a:br/>
          </a:p>
          <a:p>
            <a:pPr>
              <a:defRPr sz="800">
                <a:solidFill>
                  <a:srgbClr val="0F172A"/>
                </a:solidFill>
              </a:defRPr>
            </a:pPr>
            <a:r>
              <a:t>■ FIPS 140-2</a:t>
            </a:r>
            <a:br/>
            <a:r>
              <a:t>Cryptographic Module Security</a:t>
            </a:r>
            <a:br/>
          </a:p>
          <a:p>
            <a:pPr>
              <a:defRPr sz="800">
                <a:solidFill>
                  <a:srgbClr val="0F172A"/>
                </a:solidFill>
              </a:defRPr>
            </a:pPr>
            <a:r>
              <a:t>■ CCTNS INTEGRATION</a:t>
            </a:r>
            <a:br/>
            <a:r>
              <a:t>National Crime Records Bureau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